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33" y="6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Accounts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7A1F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4CB-4D76-A514-0839AD5354D4}"/>
              </c:ext>
            </c:extLst>
          </c:dPt>
          <c:dPt>
            <c:idx val="1"/>
            <c:bubble3D val="0"/>
            <c:spPr>
              <a:solidFill>
                <a:srgbClr val="E9EDF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4CB-4D76-A514-0839AD5354D4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1B2A4A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4CB-4D76-A514-0839AD5354D4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1B2A4A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4CB-4D76-A514-0839AD5354D4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Delinquent (16%)</c:v>
                </c:pt>
                <c:pt idx="1">
                  <c:v>Non-Delinquent (84%)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</c:v>
                </c:pt>
                <c:pt idx="1">
                  <c:v>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4CB-4D76-A514-0839AD5354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Missing</c:v>
                </c:pt>
              </c:strCache>
            </c:strRef>
          </c:tx>
          <c:spPr>
            <a:solidFill>
              <a:srgbClr val="1B2A4A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2A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Income</c:v>
                </c:pt>
                <c:pt idx="1">
                  <c:v>Loan_Balance</c:v>
                </c:pt>
                <c:pt idx="2">
                  <c:v>Credit_Score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7.8</c:v>
                </c:pt>
                <c:pt idx="1">
                  <c:v>5.8</c:v>
                </c:pt>
                <c:pt idx="2">
                  <c:v>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34A-4E18-9027-640193C7ACA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B2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3524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D33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377440"/>
            <a:ext cx="5943600" cy="59436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" name="Shape 2"/>
          <p:cNvSpPr/>
          <p:nvPr/>
        </p:nvSpPr>
        <p:spPr>
          <a:xfrm>
            <a:off x="9692640" y="-1554480"/>
            <a:ext cx="4206240" cy="4206240"/>
          </a:xfrm>
          <a:prstGeom prst="ellipse">
            <a:avLst/>
          </a:prstGeom>
          <a:solidFill>
            <a:srgbClr val="7A1F2B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8138160" cy="6858000"/>
          </a:xfrm>
          <a:prstGeom prst="rect">
            <a:avLst/>
          </a:prstGeom>
          <a:solidFill>
            <a:srgbClr val="121D33"/>
          </a:solidFill>
          <a:ln/>
        </p:spPr>
      </p:sp>
      <p:pic>
        <p:nvPicPr>
          <p:cNvPr id="6" name="Image 0" descr="/home/claude/fmt_unzip/word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02920"/>
            <a:ext cx="868680" cy="9235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56692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IILM UNIVERSITY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691640" y="96012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EB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Noida, Uttar Pradesh  |  School of Computer Science &amp; Engineering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7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PRESENTATION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331720"/>
            <a:ext cx="7315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GenAI-Powered Data Analytics for</a:t>
            </a:r>
            <a:endParaRPr lang="en-US" sz="34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Collections Strategy</a:t>
            </a:r>
            <a:endParaRPr lang="en-US" sz="34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379476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customer delinquency and designing a responsible, AI-driven collections strategy for Geldium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40080" y="4526280"/>
            <a:ext cx="7223760" cy="1874520"/>
          </a:xfrm>
          <a:prstGeom prst="roundRect">
            <a:avLst>
              <a:gd name="adj" fmla="val 2927"/>
            </a:avLst>
          </a:prstGeom>
          <a:solidFill>
            <a:srgbClr val="1F2E4E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68680" y="470001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F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3200400" y="4672584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Aryan Singh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868680" y="503377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F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NUMBER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3200400" y="500634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2410031399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868680" y="536752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F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3200400" y="534009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– Specialization in AI &amp; ML with IBM-ICE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868680" y="570128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F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3200400" y="5673852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5th Semester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868680" y="60350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F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3200400" y="600760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iQ — GenAI Powered Data Analytics Job Simulation (via Forage)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512064" cy="512064"/>
          </a:xfrm>
          <a:prstGeom prst="ellipse">
            <a:avLst/>
          </a:prstGeom>
          <a:solidFill>
            <a:srgbClr val="7A1F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1488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103120"/>
            <a:ext cx="4407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Organization</a:t>
            </a:r>
            <a:endParaRPr lang="en-US" sz="165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441448"/>
            <a:ext cx="4407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Tata, Tata iQ, and the Forage simulation platform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3108960"/>
            <a:ext cx="512064" cy="512064"/>
          </a:xfrm>
          <a:prstGeom prst="ellipse">
            <a:avLst/>
          </a:prstGeom>
          <a:solidFill>
            <a:srgbClr val="7A1F2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1089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3063240"/>
            <a:ext cx="4407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&amp; Problem Statement</a:t>
            </a:r>
            <a:endParaRPr lang="en-US" sz="165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401568"/>
            <a:ext cx="4407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internship brief and Geldium's business challenge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069080"/>
            <a:ext cx="512064" cy="512064"/>
          </a:xfrm>
          <a:prstGeom prst="ellipse">
            <a:avLst/>
          </a:prstGeom>
          <a:solidFill>
            <a:srgbClr val="7A1F2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0690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4023360"/>
            <a:ext cx="4407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Exploratory Analysis</a:t>
            </a:r>
            <a:endParaRPr lang="en-US" sz="165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361688"/>
            <a:ext cx="4407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quality, cleaning, and early risk indicators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5029200"/>
            <a:ext cx="512064" cy="512064"/>
          </a:xfrm>
          <a:prstGeom prst="ellipse">
            <a:avLst/>
          </a:prstGeom>
          <a:solidFill>
            <a:srgbClr val="7A1F2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0292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983480"/>
            <a:ext cx="4407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Modelling Approach</a:t>
            </a:r>
            <a:endParaRPr lang="en-US" sz="165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5321808"/>
            <a:ext cx="4407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selection, model choice, and evaluation strategy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26480" y="2148840"/>
            <a:ext cx="512064" cy="512064"/>
          </a:xfrm>
          <a:prstGeom prst="ellipse">
            <a:avLst/>
          </a:prstGeom>
          <a:solidFill>
            <a:srgbClr val="7A1F2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126480" y="21488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812280" y="2103120"/>
            <a:ext cx="4407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Report &amp; Recommendations</a:t>
            </a:r>
            <a:endParaRPr lang="en-US" sz="1650" dirty="0"/>
          </a:p>
        </p:txBody>
      </p:sp>
      <p:sp>
        <p:nvSpPr>
          <p:cNvPr id="23" name="Text 21"/>
          <p:cNvSpPr txBox="1"/>
          <p:nvPr/>
        </p:nvSpPr>
        <p:spPr>
          <a:xfrm>
            <a:off x="6812280" y="2441448"/>
            <a:ext cx="4407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recommendations for the Collections team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26480" y="3108960"/>
            <a:ext cx="512064" cy="512064"/>
          </a:xfrm>
          <a:prstGeom prst="ellipse">
            <a:avLst/>
          </a:prstGeom>
          <a:solidFill>
            <a:srgbClr val="7A1F2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126480" y="31089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812280" y="3063240"/>
            <a:ext cx="4407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AI-Driven Collections Strategy</a:t>
            </a:r>
            <a:endParaRPr lang="en-US" sz="1650" dirty="0"/>
          </a:p>
        </p:txBody>
      </p:sp>
      <p:sp>
        <p:nvSpPr>
          <p:cNvPr id="27" name="Text 25"/>
          <p:cNvSpPr txBox="1"/>
          <p:nvPr/>
        </p:nvSpPr>
        <p:spPr>
          <a:xfrm>
            <a:off x="6812280" y="3401568"/>
            <a:ext cx="4407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architecture, governance &amp; responsible AI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126480" y="4069080"/>
            <a:ext cx="512064" cy="512064"/>
          </a:xfrm>
          <a:prstGeom prst="ellipse">
            <a:avLst/>
          </a:prstGeom>
          <a:solidFill>
            <a:srgbClr val="7A1F2B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126480" y="40690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6812280" y="4023360"/>
            <a:ext cx="4407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Impact, Outcomes &amp; Learnings</a:t>
            </a:r>
            <a:endParaRPr lang="en-US" sz="1650" dirty="0"/>
          </a:p>
        </p:txBody>
      </p:sp>
      <p:sp>
        <p:nvSpPr>
          <p:cNvPr id="31" name="Text 29"/>
          <p:cNvSpPr txBox="1"/>
          <p:nvPr/>
        </p:nvSpPr>
        <p:spPr>
          <a:xfrm>
            <a:off x="6812280" y="4361688"/>
            <a:ext cx="4407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business impact and key takeaways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GenAI-Powered Data Analytics — Predictive Collections Strategy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ORGANIZATION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Tata, Tata iQ &amp; Forage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4343400"/>
          </a:xfrm>
          <a:prstGeom prst="roundRect">
            <a:avLst>
              <a:gd name="adj" fmla="val 147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A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920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TATA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3172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India's largest and most diversified business conglomerates, with operations spanning information technology, financial services, steel, automotive, and retail across more than 100 countries.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5204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TATA iQ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93192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analytics and artificial-intelligence arm of the Tata ecosystem, applying data science, machine learning, and Generative AI to solve real business problems — including financial-services risk and collections management.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5120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FORAGE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55321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global virtual work-experience platform that delivers Tata's job simulation — free, self-paced, employer-designed tasks that mirror real analyst work.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355080" y="1691640"/>
            <a:ext cx="5303520" cy="4343400"/>
          </a:xfrm>
          <a:prstGeom prst="roundRect">
            <a:avLst>
              <a:gd name="adj" fmla="val 1474"/>
            </a:avLst>
          </a:prstGeom>
          <a:solidFill>
            <a:srgbClr val="1B2A4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675120" y="19659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7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SIMULATION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233172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GenAI Powered Data Analytics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 Simulation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6675120" y="3410712"/>
            <a:ext cx="82296" cy="82296"/>
          </a:xfrm>
          <a:prstGeom prst="ellipse">
            <a:avLst/>
          </a:prstGeom>
          <a:solidFill>
            <a:srgbClr val="C79A3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903720" y="333756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9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Completed: August 2026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0" y="3913632"/>
            <a:ext cx="82296" cy="82296"/>
          </a:xfrm>
          <a:prstGeom prst="ellipse">
            <a:avLst/>
          </a:prstGeom>
          <a:solidFill>
            <a:srgbClr val="C79A3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903720" y="384048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9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client: Geldium (consumer lending company)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675120" y="4416552"/>
            <a:ext cx="82296" cy="82296"/>
          </a:xfrm>
          <a:prstGeom prst="ellipse">
            <a:avLst/>
          </a:prstGeom>
          <a:solidFill>
            <a:srgbClr val="C79A3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903720" y="434340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9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Data Analyst supporting the Collections function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675120" y="4919472"/>
            <a:ext cx="82296" cy="82296"/>
          </a:xfrm>
          <a:prstGeom prst="ellipse">
            <a:avLst/>
          </a:prstGeom>
          <a:solidFill>
            <a:srgbClr val="C79A3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903720" y="484632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9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practical, business-facing tasks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675120" y="5422392"/>
            <a:ext cx="82296" cy="82296"/>
          </a:xfrm>
          <a:prstGeom prst="ellipse">
            <a:avLst/>
          </a:prstGeom>
          <a:solidFill>
            <a:srgbClr val="C79A3D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903720" y="534924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9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of Completion issued by Forage on behalf of Tata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GenAI-Powered Data Analytics — Predictive Collections Strategy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Geldium's collections team lacked a systematic, data-driven way to identify at-risk customers early and prioritize outreach — relying instead on reactive, post-due-date collections.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A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301752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7A1F2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7033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Costly &amp; Reactive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16052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Late-stage collections is expensive to run and damages the customer relationship.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43400" y="269748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A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301752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7A1F2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6344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7033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Signals Missed Early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416052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purely rules-based approach misses combined behavioural + financial risk signals.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38160" y="269748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A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301752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C79A3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5820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458200" y="37033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Ask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458200" y="416052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predictive model to flag delinquency risk early, and translate it into a responsible, business-ready collections strategy.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GenAI-Powered Data Analytics — Predictive Collections Strategy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57400"/>
            <a:ext cx="457200" cy="457200"/>
          </a:xfrm>
          <a:prstGeom prst="ellipse">
            <a:avLst/>
          </a:prstGeom>
          <a:solidFill>
            <a:srgbClr val="7A1F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856232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data quality and resolve missing values before modelling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1691640"/>
            <a:ext cx="52578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A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46520" y="2057400"/>
            <a:ext cx="457200" cy="457200"/>
          </a:xfrm>
          <a:prstGeom prst="ellipse">
            <a:avLst/>
          </a:prstGeom>
          <a:solidFill>
            <a:srgbClr val="7A1F2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4652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086600" y="1856232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early behavioural and financial risk indicators via EDA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52578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A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" y="3474720"/>
            <a:ext cx="457200" cy="457200"/>
          </a:xfrm>
          <a:prstGeom prst="ellipse">
            <a:avLst/>
          </a:prstGeom>
          <a:solidFill>
            <a:srgbClr val="7A1F2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3273552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predictive pipeline: feature selection, model choice, evaluation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72200" y="3108960"/>
            <a:ext cx="52578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A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46520" y="3474720"/>
            <a:ext cx="457200" cy="457200"/>
          </a:xfrm>
          <a:prstGeom prst="ellipse">
            <a:avLst/>
          </a:prstGeom>
          <a:solidFill>
            <a:srgbClr val="7A1F2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4652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086600" y="3273552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model insights into a SMART, business-ready recommendation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526280"/>
            <a:ext cx="52578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A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2960" y="4892040"/>
            <a:ext cx="457200" cy="457200"/>
          </a:xfrm>
          <a:prstGeom prst="ellipse">
            <a:avLst/>
          </a:prstGeom>
          <a:solidFill>
            <a:srgbClr val="7A1F2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296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463040" y="4690872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 agentic, AI-driven collections strategy with human oversight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172200" y="4526280"/>
            <a:ext cx="52578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A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46520" y="4892040"/>
            <a:ext cx="457200" cy="457200"/>
          </a:xfrm>
          <a:prstGeom prst="ellipse">
            <a:avLst/>
          </a:prstGeom>
          <a:solidFill>
            <a:srgbClr val="7A1F2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4652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086600" y="4690872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fairness, explainability &amp; regulatory-compliance principles throughout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GenAI-Powered Data Analytics — Predictive Collections Strategy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— FOUNDATION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79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603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9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records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37560" y="16916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1B2A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337560" y="182880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79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3337560" y="25603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9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per record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26480" y="16916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1B2A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126480" y="182880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79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16.0%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6126480" y="25603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9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delinquency rate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915400" y="16916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1B2A4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915400" y="182880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79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8915400" y="25603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9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IDs found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337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Delinquency Split</a:t>
            </a:r>
            <a:endParaRPr lang="en-US" sz="140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457200" y="3657600"/>
          <a:ext cx="374904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Shape 15"/>
          <p:cNvSpPr/>
          <p:nvPr/>
        </p:nvSpPr>
        <p:spPr>
          <a:xfrm>
            <a:off x="640080" y="6263640"/>
            <a:ext cx="164592" cy="164592"/>
          </a:xfrm>
          <a:prstGeom prst="rect">
            <a:avLst/>
          </a:prstGeom>
          <a:solidFill>
            <a:srgbClr val="7A1F2B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68680" y="62179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Delinquent (16%)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2468880" y="6263640"/>
            <a:ext cx="164592" cy="164592"/>
          </a:xfrm>
          <a:prstGeom prst="rect">
            <a:avLst/>
          </a:prstGeom>
          <a:solidFill>
            <a:srgbClr val="E9EDF5"/>
          </a:solidFill>
          <a:ln w="9525">
            <a:solidFill>
              <a:srgbClr val="C7CCD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697480" y="62179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Non-Delinquent (84%)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4572000" y="3337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Values by Field</a:t>
            </a:r>
            <a:endParaRPr lang="en-US" sz="1400" dirty="0"/>
          </a:p>
        </p:txBody>
      </p:sp>
      <p:graphicFrame>
        <p:nvGraphicFramePr>
          <p:cNvPr id="23" name="Chart 1"/>
          <p:cNvGraphicFramePr/>
          <p:nvPr/>
        </p:nvGraphicFramePr>
        <p:xfrm>
          <a:off x="4480560" y="3657600"/>
          <a:ext cx="365760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4" name="Shape 20"/>
          <p:cNvSpPr/>
          <p:nvPr/>
        </p:nvSpPr>
        <p:spPr>
          <a:xfrm>
            <a:off x="8366760" y="3337560"/>
            <a:ext cx="3246120" cy="2880360"/>
          </a:xfrm>
          <a:prstGeom prst="roundRect">
            <a:avLst>
              <a:gd name="adj" fmla="val 2540"/>
            </a:avLst>
          </a:prstGeom>
          <a:solidFill>
            <a:srgbClr val="E9EDF5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8595360" y="35204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QUALITY NOTES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8595360" y="3995928"/>
            <a:ext cx="73152" cy="73152"/>
          </a:xfrm>
          <a:prstGeom prst="ellipse">
            <a:avLst/>
          </a:prstGeom>
          <a:solidFill>
            <a:srgbClr val="7A1F2B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796528" y="391363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resolved via grouped median imputation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8595360" y="4864608"/>
            <a:ext cx="73152" cy="73152"/>
          </a:xfrm>
          <a:prstGeom prst="ellipse">
            <a:avLst/>
          </a:prstGeom>
          <a:solidFill>
            <a:srgbClr val="7A1F2B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8796528" y="478231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Employment_Status labels standardized (6 → 4 categories)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8595360" y="5733288"/>
            <a:ext cx="73152" cy="73152"/>
          </a:xfrm>
          <a:prstGeom prst="ellipse">
            <a:avLst/>
          </a:prstGeom>
          <a:solidFill>
            <a:srgbClr val="7A1F2B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8796528" y="565099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records show &gt;100% credit utilization — flagged for confirmation</a:t>
            </a:r>
            <a:endParaRPr lang="en-US" sz="1100" dirty="0"/>
          </a:p>
        </p:txBody>
      </p:sp>
      <p:sp>
        <p:nvSpPr>
          <p:cNvPr id="32" name="Text 28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GenAI-Powered Data Analytics — Predictive Collections Strategy</a:t>
            </a:r>
            <a:endParaRPr lang="en-US" sz="1000" dirty="0"/>
          </a:p>
        </p:txBody>
      </p:sp>
      <p:sp>
        <p:nvSpPr>
          <p:cNvPr id="33" name="Text 29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— EDA &amp; RISK PROFILING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Risk Indicators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675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A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Employment Status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2880360" y="1828800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Unemployed customers show the highest delinquency (19.4%); retired customers the lowest (11.5%).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6675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A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301752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Credit Card Type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2880360" y="3017520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'Business' cardholders show the highest delinquency (21.3%); 'Platinum' the lowest (11.8%).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069080"/>
            <a:ext cx="6675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A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2960" y="42062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Location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2880360" y="4206240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Delinquency ranges from 12.0% (New York) to 19.6% (Los Angeles) across five cities.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52360" y="1691640"/>
            <a:ext cx="4160520" cy="4434840"/>
          </a:xfrm>
          <a:prstGeom prst="roundRect">
            <a:avLst>
              <a:gd name="adj" fmla="val 1758"/>
            </a:avLst>
          </a:prstGeom>
          <a:solidFill>
            <a:srgbClr val="1B2A4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26680" y="1920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C7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UNEXPECTED FINDING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7726680" y="22860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 univariate correlation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7726680" y="288036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9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 core numerical variables — income, credit score, utilization, missed payments — show meaningful linear correlation with delinquency (all coefficients near zero).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26680" y="4069080"/>
            <a:ext cx="3611880" cy="0"/>
          </a:xfrm>
          <a:prstGeom prst="line">
            <a:avLst/>
          </a:prstGeom>
          <a:noFill/>
          <a:ln w="12700">
            <a:solidFill>
              <a:srgbClr val="3A4A6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26680" y="4206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7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hypotheses: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7726680" y="45262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may be driven by non-linear interactions (e.g., high utilization × low income)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7726680" y="52120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simulation's target may be generated independently of listed features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GenAI-Powered Data Analytics — Predictive Collections Strategy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— PREDICTIVE MODELLING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Modelling Approach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two-stage approach: logistic regression as an interpretable baseline, benchmarked against gradient-boosted trees to capture non-linear interactions.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2578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A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2487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74320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68680" y="3319272"/>
            <a:ext cx="73152" cy="73152"/>
          </a:xfrm>
          <a:prstGeom prst="ellipse">
            <a:avLst/>
          </a:prstGeom>
          <a:solidFill>
            <a:srgbClr val="7A1F2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78992" y="321868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interpretability — transparent coefficients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68680" y="3758184"/>
            <a:ext cx="73152" cy="73152"/>
          </a:xfrm>
          <a:prstGeom prst="ellipse">
            <a:avLst/>
          </a:prstGeom>
          <a:solidFill>
            <a:srgbClr val="7A1F2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78992" y="365760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Well-established in credit scoring &amp; regulation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68680" y="4197096"/>
            <a:ext cx="73152" cy="73152"/>
          </a:xfrm>
          <a:prstGeom prst="ellipse">
            <a:avLst/>
          </a:prstGeom>
          <a:solidFill>
            <a:srgbClr val="7A1F2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78992" y="409651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Lightweight, fast to retrain and monitor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72200" y="2286000"/>
            <a:ext cx="52578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A">
                <a:alpha val="1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492240" y="2487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C7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CHALLENGER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274320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Gradient-Boosted Trees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492240" y="3319272"/>
            <a:ext cx="73152" cy="73152"/>
          </a:xfrm>
          <a:prstGeom prst="ellipse">
            <a:avLst/>
          </a:prstGeom>
          <a:solidFill>
            <a:srgbClr val="C79A3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702552" y="321868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non-linear feature interactions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92240" y="3758184"/>
            <a:ext cx="73152" cy="73152"/>
          </a:xfrm>
          <a:prstGeom prst="ellipse">
            <a:avLst/>
          </a:prstGeom>
          <a:solidFill>
            <a:srgbClr val="C79A3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702552" y="365760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Typically higher accuracy on complex risk data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92240" y="4197096"/>
            <a:ext cx="73152" cy="73152"/>
          </a:xfrm>
          <a:prstGeom prst="ellipse">
            <a:avLst/>
          </a:prstGeom>
          <a:solidFill>
            <a:srgbClr val="C79A3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702552" y="409651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SHAP/feature-importance for explainability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846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PREDICTIVE FEATURES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166360"/>
            <a:ext cx="2084832" cy="777240"/>
          </a:xfrm>
          <a:prstGeom prst="roundRect">
            <a:avLst>
              <a:gd name="adj" fmla="val 7059"/>
            </a:avLst>
          </a:prstGeom>
          <a:solidFill>
            <a:srgbClr val="E9EDF5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0080" y="5166360"/>
            <a:ext cx="1901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Payments (12mo)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70632" y="5166360"/>
            <a:ext cx="2084832" cy="777240"/>
          </a:xfrm>
          <a:prstGeom prst="roundRect">
            <a:avLst>
              <a:gd name="adj" fmla="val 7059"/>
            </a:avLst>
          </a:prstGeom>
          <a:solidFill>
            <a:srgbClr val="E9EDF5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2862072" y="5166360"/>
            <a:ext cx="1901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Utilization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992624" y="5166360"/>
            <a:ext cx="2084832" cy="777240"/>
          </a:xfrm>
          <a:prstGeom prst="roundRect">
            <a:avLst>
              <a:gd name="adj" fmla="val 7059"/>
            </a:avLst>
          </a:prstGeom>
          <a:solidFill>
            <a:srgbClr val="E9EDF5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084064" y="5166360"/>
            <a:ext cx="1901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Debt-to-Income Ratio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214616" y="5166360"/>
            <a:ext cx="2084832" cy="777240"/>
          </a:xfrm>
          <a:prstGeom prst="roundRect">
            <a:avLst>
              <a:gd name="adj" fmla="val 7059"/>
            </a:avLst>
          </a:prstGeom>
          <a:solidFill>
            <a:srgbClr val="E9EDF5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306056" y="5166360"/>
            <a:ext cx="1901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6-Month Payment Trend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436608" y="5166360"/>
            <a:ext cx="2084832" cy="777240"/>
          </a:xfrm>
          <a:prstGeom prst="roundRect">
            <a:avLst>
              <a:gd name="adj" fmla="val 7059"/>
            </a:avLst>
          </a:prstGeom>
          <a:solidFill>
            <a:srgbClr val="E9EDF5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528048" y="5166360"/>
            <a:ext cx="1901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Score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GenAI-Powered Data Analytics — Predictive Collections Strategy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— PREDICTIVE MODELLING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Strategy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only 16% of customers delinquent, accuracy alone is misleading — a model that always predicts “not delinquent” would score 84% while catching zero at-risk customers.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26060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A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67919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A1F2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04672" y="2679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3291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36576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wasted outreach to good customers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37560" y="2423160"/>
            <a:ext cx="26060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A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93592" y="267919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A1F2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593592" y="2679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593592" y="3291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593592" y="36576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metric — missing at-risk customers costs more than a false alarm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26480" y="2423160"/>
            <a:ext cx="26060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A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82512" y="267919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A1F2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382512" y="2679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382512" y="3291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 Score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382512" y="36576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 precision and recall in one score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915400" y="2423160"/>
            <a:ext cx="26060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A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71432" y="267919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A1F2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171432" y="2679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171432" y="3291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AUC-ROC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9171432" y="36576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Threshold-independent view of separability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457200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E9EDF5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22960" y="4736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&amp; BIAS CHECKS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" y="50292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Segmented performance review across Employment_Status, Location &amp; age bands  •  Proxy-variable review  •  Disparate-impact ratio (80% rule)  •  Reweighting &amp; threshold adjustment if disparities are found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GenAI-Powered Data Analytics — Predictive Collections Strategy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— BUSINESS REPORT &amp; DATA STORYTELLING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SMART Recommendation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 proactive outreach program that flags customers crossing a 70% credit-utilization threshold — before a payment is ever missed.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084832" cy="35661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A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16736" y="2606040"/>
            <a:ext cx="548640" cy="548640"/>
          </a:xfrm>
          <a:prstGeom prst="ellipse">
            <a:avLst/>
          </a:prstGeom>
          <a:solidFill>
            <a:srgbClr val="7A1F2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16736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329184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Specific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3703320"/>
            <a:ext cx="175564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customers whose utilization exceeds 70% for two consecutive billing cycles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70632" y="2331720"/>
            <a:ext cx="2084832" cy="35661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A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38728" y="2606040"/>
            <a:ext cx="548640" cy="548640"/>
          </a:xfrm>
          <a:prstGeom prst="ellipse">
            <a:avLst/>
          </a:prstGeom>
          <a:solidFill>
            <a:srgbClr val="7A1F2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538728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2880360" y="329184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Measurable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2935224" y="3703320"/>
            <a:ext cx="175564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flagged-group delinquency vs. a comparable unflagged control group each quarter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992624" y="2331720"/>
            <a:ext cx="2084832" cy="35661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A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760720" y="2606040"/>
            <a:ext cx="548640" cy="548640"/>
          </a:xfrm>
          <a:prstGeom prst="ellipse">
            <a:avLst/>
          </a:prstGeom>
          <a:solidFill>
            <a:srgbClr val="7A1F2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760720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5102352" y="329184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Actionable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5157216" y="3703320"/>
            <a:ext cx="175564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flagged accounts to the early-engagement queue via existing channels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214616" y="2331720"/>
            <a:ext cx="2084832" cy="35661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A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982712" y="2606040"/>
            <a:ext cx="548640" cy="548640"/>
          </a:xfrm>
          <a:prstGeom prst="ellipse">
            <a:avLst/>
          </a:prstGeom>
          <a:solidFill>
            <a:srgbClr val="7A1F2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982712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7324344" y="329184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Relevant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7379208" y="3703320"/>
            <a:ext cx="175564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addresses the model's top predictor; shifts collections from reactive to preventive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436608" y="2331720"/>
            <a:ext cx="2084832" cy="35661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A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204704" y="2606040"/>
            <a:ext cx="548640" cy="548640"/>
          </a:xfrm>
          <a:prstGeom prst="ellipse">
            <a:avLst/>
          </a:prstGeom>
          <a:solidFill>
            <a:srgbClr val="7A1F2B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0204704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2400" dirty="0"/>
          </a:p>
        </p:txBody>
      </p:sp>
      <p:sp>
        <p:nvSpPr>
          <p:cNvPr id="28" name="Text 26"/>
          <p:cNvSpPr txBox="1"/>
          <p:nvPr/>
        </p:nvSpPr>
        <p:spPr>
          <a:xfrm>
            <a:off x="9546336" y="329184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Time-bound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9601200" y="3703320"/>
            <a:ext cx="175564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One-quarter pilot; expand if delinquency drops ≥10% vs. control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GenAI-Powered Data Analytics — Predictive Collections Strategy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— RESPONSIBLE AI CONSIDERATIONS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Ethical Guardrails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2578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24028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E9EDF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22402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23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07568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Fairness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42316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 protected attributes; monitor outcomes by demographic group; rely on behavioural variables over demographic proxies.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1874520"/>
            <a:ext cx="52578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64808" y="224028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E9EDF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64808" y="22402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23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207568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Explainability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223760" y="242316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 predictions with plain-language drivers, not raw model scores, so the Collections team can act on the reasoning.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566160"/>
            <a:ext cx="52578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A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" y="393192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E9EDF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1248" y="393192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23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376732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Responsible Use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411480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triggers supportive outreach and counseling, not automatic penalties — a false positive means a helpful check-in.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200" y="3566160"/>
            <a:ext cx="52578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A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64808" y="393192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E9EDF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64808" y="393192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2300" dirty="0"/>
          </a:p>
        </p:txBody>
      </p:sp>
      <p:sp>
        <p:nvSpPr>
          <p:cNvPr id="22" name="Text 20"/>
          <p:cNvSpPr txBox="1"/>
          <p:nvPr/>
        </p:nvSpPr>
        <p:spPr>
          <a:xfrm>
            <a:off x="7223760" y="376732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Transparency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223760" y="411480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and flagged segments are reviewed regularly; customer data is used only for the stated purpose.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53212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1B2A4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68680" y="553212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9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four safeguards run continuously alongside the model — not as a one-time check before launch.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GenAI-Powered Data Analytics — Predictive Collections Strategy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 — AI-DRIVEN COLLECTIONS STRATEGY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System Architecture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closed feedback loop: every action the system takes feeds back into the model, so it gets smarter and fairer over time.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487168" cy="2286000"/>
          </a:xfrm>
          <a:prstGeom prst="roundRect">
            <a:avLst>
              <a:gd name="adj" fmla="val 3200"/>
            </a:avLst>
          </a:prstGeom>
          <a:solidFill>
            <a:srgbClr val="1B2A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514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79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10896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Data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566160"/>
            <a:ext cx="20299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E9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Repayment history, utilization, engagement, account status</a:t>
            </a:r>
            <a:endParaRPr lang="en-US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3035808" y="315468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291840" y="2331720"/>
            <a:ext cx="2487168" cy="2286000"/>
          </a:xfrm>
          <a:prstGeom prst="roundRect">
            <a:avLst>
              <a:gd name="adj" fmla="val 3200"/>
            </a:avLst>
          </a:prstGeom>
          <a:solidFill>
            <a:srgbClr val="7A1F2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20440" y="2514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79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310896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Logic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3566160"/>
            <a:ext cx="20299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E9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Risk-scoring model + business-rule overlay assigns a risk tier</a:t>
            </a:r>
            <a:endParaRPr lang="en-US" sz="1080" dirty="0"/>
          </a:p>
        </p:txBody>
      </p:sp>
      <p:sp>
        <p:nvSpPr>
          <p:cNvPr id="14" name="Text 12"/>
          <p:cNvSpPr txBox="1"/>
          <p:nvPr/>
        </p:nvSpPr>
        <p:spPr>
          <a:xfrm>
            <a:off x="5779008" y="315468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035040" y="2331720"/>
            <a:ext cx="2487168" cy="2286000"/>
          </a:xfrm>
          <a:prstGeom prst="roundRect">
            <a:avLst>
              <a:gd name="adj" fmla="val 3200"/>
            </a:avLst>
          </a:prstGeom>
          <a:solidFill>
            <a:srgbClr val="1B2A4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63640" y="2514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79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310896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Action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3566160"/>
            <a:ext cx="20299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E9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outreach — reminder, offer, or human referral</a:t>
            </a:r>
            <a:endParaRPr lang="en-US" sz="1080" dirty="0"/>
          </a:p>
        </p:txBody>
      </p:sp>
      <p:sp>
        <p:nvSpPr>
          <p:cNvPr id="19" name="Text 17"/>
          <p:cNvSpPr txBox="1"/>
          <p:nvPr/>
        </p:nvSpPr>
        <p:spPr>
          <a:xfrm>
            <a:off x="8522208" y="315468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8778240" y="2331720"/>
            <a:ext cx="2487168" cy="2286000"/>
          </a:xfrm>
          <a:prstGeom prst="roundRect">
            <a:avLst>
              <a:gd name="adj" fmla="val 3200"/>
            </a:avLst>
          </a:prstGeom>
          <a:solidFill>
            <a:srgbClr val="7A1F2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006840" y="2514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79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9006840" y="310896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Loop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006840" y="3566160"/>
            <a:ext cx="20299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E9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tracked and fed back to retrain &amp; recalibrate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548640" y="489204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E9EDF5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22960" y="50749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534924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Reminders • nightly re-scoring • routing accounts • pre-approved payment offers • logging outcomes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080760" y="5029200"/>
            <a:ext cx="0" cy="960120"/>
          </a:xfrm>
          <a:prstGeom prst="line">
            <a:avLst/>
          </a:prstGeom>
          <a:noFill/>
          <a:ln w="12700">
            <a:solidFill>
              <a:srgbClr val="C7CCD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309360" y="50749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309360" y="534924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Hardship &amp; forbearance approval • settlement negotiation • dispute review • credit-reporting or legal actions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GenAI-Powered Data Analytics — Predictive Collections Strategy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 — BUSINESS CASE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Business Impact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A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↓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5146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Delinquency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880360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accounts rolling to 30/60/90+ days past due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37560" y="169164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A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337560" y="182880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C7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↑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25146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Repayment Rate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3502152" y="2880360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on-time and self-cured resolutions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69164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A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126480" y="182880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↓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25146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Cost-to-Collect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291072" y="2880360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absorbs routine outreach volume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915400" y="169164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A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915400" y="182880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C7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↑</a:t>
            </a:r>
            <a:endParaRPr lang="en-US" sz="3600" dirty="0"/>
          </a:p>
        </p:txBody>
      </p:sp>
      <p:sp>
        <p:nvSpPr>
          <p:cNvPr id="18" name="Text 16"/>
          <p:cNvSpPr txBox="1"/>
          <p:nvPr/>
        </p:nvSpPr>
        <p:spPr>
          <a:xfrm>
            <a:off x="9052560" y="25146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Scalability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9079992" y="2880360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portfolio growth without adding headcount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3840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OUTCOMES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325112"/>
            <a:ext cx="91440" cy="91440"/>
          </a:xfrm>
          <a:prstGeom prst="ellipse">
            <a:avLst/>
          </a:prstGeom>
          <a:solidFill>
            <a:srgbClr val="C79A3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77240" y="423367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empathetic, right-sized outreach for each customer's situation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72200" y="4325112"/>
            <a:ext cx="91440" cy="91440"/>
          </a:xfrm>
          <a:prstGeom prst="ellipse">
            <a:avLst/>
          </a:prstGeom>
          <a:solidFill>
            <a:srgbClr val="C79A3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00800" y="423367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Faster, clearer answers thanks to explainable decisions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4892040"/>
            <a:ext cx="91440" cy="91440"/>
          </a:xfrm>
          <a:prstGeom prst="ellipse">
            <a:avLst/>
          </a:prstGeom>
          <a:solidFill>
            <a:srgbClr val="C79A3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77240" y="48006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consistent, equitable treatment across customer segments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172200" y="4892040"/>
            <a:ext cx="91440" cy="91440"/>
          </a:xfrm>
          <a:prstGeom prst="ellipse">
            <a:avLst/>
          </a:prstGeom>
          <a:solidFill>
            <a:srgbClr val="C79A3D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400800" y="48006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trust in Geldium as a fair and transparent lender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GenAI-Powered Data Analytics — Predictive Collections Strategy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Gained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57400"/>
            <a:ext cx="457200" cy="457200"/>
          </a:xfrm>
          <a:prstGeom prst="ellipse">
            <a:avLst/>
          </a:prstGeom>
          <a:solidFill>
            <a:srgbClr val="7A1F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856232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8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Data-quality assessment, cleaning &amp; justified imputation strategies</a:t>
            </a:r>
            <a:endParaRPr lang="en-US" sz="1280" dirty="0"/>
          </a:p>
        </p:txBody>
      </p:sp>
      <p:sp>
        <p:nvSpPr>
          <p:cNvPr id="8" name="Shape 6"/>
          <p:cNvSpPr/>
          <p:nvPr/>
        </p:nvSpPr>
        <p:spPr>
          <a:xfrm>
            <a:off x="6172200" y="1691640"/>
            <a:ext cx="52578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A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46520" y="2057400"/>
            <a:ext cx="457200" cy="457200"/>
          </a:xfrm>
          <a:prstGeom prst="ellipse">
            <a:avLst/>
          </a:prstGeom>
          <a:solidFill>
            <a:srgbClr val="7A1F2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4652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086600" y="1856232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8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and behavioural risk-factor identification</a:t>
            </a:r>
            <a:endParaRPr lang="en-US" sz="128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52578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A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" y="3474720"/>
            <a:ext cx="457200" cy="457200"/>
          </a:xfrm>
          <a:prstGeom prst="ellipse">
            <a:avLst/>
          </a:prstGeom>
          <a:solidFill>
            <a:srgbClr val="7A1F2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3273552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8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Predictive-model planning: feature selection, model choice, evaluation</a:t>
            </a:r>
            <a:endParaRPr lang="en-US" sz="1280" dirty="0"/>
          </a:p>
        </p:txBody>
      </p:sp>
      <p:sp>
        <p:nvSpPr>
          <p:cNvPr id="16" name="Shape 14"/>
          <p:cNvSpPr/>
          <p:nvPr/>
        </p:nvSpPr>
        <p:spPr>
          <a:xfrm>
            <a:off x="6172200" y="3108960"/>
            <a:ext cx="52578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A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46520" y="3474720"/>
            <a:ext cx="457200" cy="457200"/>
          </a:xfrm>
          <a:prstGeom prst="ellipse">
            <a:avLst/>
          </a:prstGeom>
          <a:solidFill>
            <a:srgbClr val="7A1F2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4652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086600" y="3273552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8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storytelling using the SMART recommendation framework</a:t>
            </a:r>
            <a:endParaRPr lang="en-US" sz="1280" dirty="0"/>
          </a:p>
        </p:txBody>
      </p:sp>
      <p:sp>
        <p:nvSpPr>
          <p:cNvPr id="20" name="Shape 18"/>
          <p:cNvSpPr/>
          <p:nvPr/>
        </p:nvSpPr>
        <p:spPr>
          <a:xfrm>
            <a:off x="548640" y="4526280"/>
            <a:ext cx="52578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A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2960" y="4892040"/>
            <a:ext cx="457200" cy="457200"/>
          </a:xfrm>
          <a:prstGeom prst="ellipse">
            <a:avLst/>
          </a:prstGeom>
          <a:solidFill>
            <a:srgbClr val="7A1F2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296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463040" y="4690872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8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agentic AI workflows with human-in-the-loop governance</a:t>
            </a:r>
            <a:endParaRPr lang="en-US" sz="1280" dirty="0"/>
          </a:p>
        </p:txBody>
      </p:sp>
      <p:sp>
        <p:nvSpPr>
          <p:cNvPr id="24" name="Shape 22"/>
          <p:cNvSpPr/>
          <p:nvPr/>
        </p:nvSpPr>
        <p:spPr>
          <a:xfrm>
            <a:off x="6172200" y="4526280"/>
            <a:ext cx="52578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A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46520" y="4892040"/>
            <a:ext cx="457200" cy="457200"/>
          </a:xfrm>
          <a:prstGeom prst="ellipse">
            <a:avLst/>
          </a:prstGeom>
          <a:solidFill>
            <a:srgbClr val="7A1F2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4652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086600" y="4690872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8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&amp; transparent use of Generative AI in a professional workflow</a:t>
            </a:r>
            <a:endParaRPr lang="en-US" sz="128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GenAI-Powered Data Analytics — Predictive Collections Strategy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943600" cy="59436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554480"/>
            <a:ext cx="4206240" cy="4206240"/>
          </a:xfrm>
          <a:prstGeom prst="ellipse">
            <a:avLst/>
          </a:prstGeom>
          <a:solidFill>
            <a:srgbClr val="7A1F2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8138160" cy="6858000"/>
          </a:xfrm>
          <a:prstGeom prst="rect">
            <a:avLst/>
          </a:prstGeom>
          <a:solidFill>
            <a:srgbClr val="121D3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828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7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4028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insight into action</a:t>
            </a:r>
            <a:endParaRPr lang="en-US" sz="3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without losing the human touch.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65760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agentic AI collections system lets Geldium act on risk signals at scale, while fairness, explainability, and human oversight keep every decision defensible.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4846320"/>
            <a:ext cx="5943600" cy="0"/>
          </a:xfrm>
          <a:prstGeom prst="line">
            <a:avLst/>
          </a:prstGeom>
          <a:noFill/>
          <a:ln w="12700">
            <a:solidFill>
              <a:srgbClr val="3A4A6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50749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7150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8F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Aryan Singh|  2410031399  </a:t>
            </a:r>
            <a:r>
              <a:rPr lang="en-US" sz="1250" dirty="0">
                <a:solidFill>
                  <a:srgbClr val="8F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B.Tech CSE (AI &amp; ML with IBM-ICE), 5th Semester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1511</Words>
  <Application>Microsoft Office PowerPoint</Application>
  <PresentationFormat>Widescreen</PresentationFormat>
  <Paragraphs>286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IILM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Kunal Dinkar Deshmukh</dc:creator>
  <cp:lastModifiedBy>aryan singh</cp:lastModifiedBy>
  <cp:revision>3</cp:revision>
  <dcterms:created xsi:type="dcterms:W3CDTF">2026-08-29T10:36:30Z</dcterms:created>
  <dcterms:modified xsi:type="dcterms:W3CDTF">2026-08-29T13:38:43Z</dcterms:modified>
</cp:coreProperties>
</file>